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Nicole Welch, a Network Security major at UAT. My project is AI Efficiency Benchmarking for Cybersecurity Analysis. The short version: I want to find out if the AI being added to security tools is actually worth what it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vendors are building AI into everything right now, and SOC teams are buying it based on marketing. Nobody publishes how much energy these features use, or whether a well-tuned traditional tool would have caught the same threats. So teams pay for AI they can't evaluate, and junior analysts lose the hands-on work that builds real skill.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framework runs the same network traffic through an AI pipeline and a traditional pipeline, then scores both on detection accuracy, false positives, processing time, and carbon emissions. No existing tool compares AI and non-AI security analysis on both accuracy and energy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build uses Python, Zeek, scikit-learn, and CodeCarbon. It pulls from my coursework in Python, shell scripting, statistical data science, network security monitoring, and security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scope is one analysis task, two pipelines, and one comparison report. The budget is zero, since every tool is open source. I plan and prototype this semester, build the working version in SIP408, and showcase it in SIP409.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users are SOC teams, security leaders making purchasing decisions, security educators, and organizations with sustainability goals.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CodeCarbon measures emissions but can't tell you if the work was any good. MLPerf Power compares AI systems against each other, not against non-AI methods. The NIST AI Risk Management Framework covers AI risk but gives no way to measure environmental cost. My project fills the gap between all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it works. A labeled packet capture goes into both pipelines. Zeek with detection rules on one side, a machine learning classifier on the other, and CodeCarbon measuring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run one command, and you get this report: accuracy, false positives, time, energy, and emissions side by side. The key number is energy per true positive, meaning how much energy each method spends to catch one real threat. That answers the actual question: is the AI's gain worth its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for watching. My full project page is on my SIP website.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F7D5B"/>
        </a:solidFill>
      </p:bgPr>
    </p:bg>
    <p:spTree>
      <p:nvGrpSpPr>
        <p:cNvPr id="1" name=""/>
        <p:cNvGrpSpPr/>
        <p:nvPr/>
      </p:nvGrpSpPr>
      <p:grpSpPr>
        <a:xfrm>
          <a:off x="0" y="0"/>
          <a:ext cx="0" cy="0"/>
          <a:chOff x="0" y="0"/>
          <a:chExt cx="0" cy="0"/>
        </a:xfrm>
      </p:grpSpPr>
      <p:sp>
        <p:nvSpPr>
          <p:cNvPr id="2" name="Text 0"/>
          <p:cNvSpPr txBox="1"/>
          <p:nvPr/>
        </p:nvSpPr>
        <p:spPr>
          <a:xfrm>
            <a:off x="640080" y="1280160"/>
            <a:ext cx="7863840" cy="1463040"/>
          </a:xfrm>
          <a:prstGeom prst="rect">
            <a:avLst/>
          </a:prstGeom>
          <a:noFill/>
          <a:ln/>
        </p:spPr>
        <p:txBody>
          <a:bodyPr wrap="square" lIns="0" tIns="0" rIns="0" bIns="0"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AI Efficiency Benchmarking for Cybersecurity Analysis</a:t>
            </a:r>
            <a:endParaRPr lang="en-US" sz="3800" dirty="0"/>
          </a:p>
        </p:txBody>
      </p:sp>
      <p:sp>
        <p:nvSpPr>
          <p:cNvPr id="3" name="Text 1"/>
          <p:cNvSpPr txBox="1"/>
          <p:nvPr/>
        </p:nvSpPr>
        <p:spPr>
          <a:xfrm>
            <a:off x="640080" y="2788920"/>
            <a:ext cx="7863840" cy="457200"/>
          </a:xfrm>
          <a:prstGeom prst="rect">
            <a:avLst/>
          </a:prstGeom>
          <a:noFill/>
          <a:ln/>
        </p:spPr>
        <p:txBody>
          <a:bodyPr wrap="square" lIns="0" tIns="0" rIns="0" bIns="0" rtlCol="0" anchor="ctr"/>
          <a:lstStyle/>
          <a:p>
            <a:pPr indent="0" marL="0">
              <a:buNone/>
            </a:pPr>
            <a:r>
              <a:rPr lang="en-US" sz="2000" i="1" dirty="0">
                <a:solidFill>
                  <a:srgbClr val="D6EBDF"/>
                </a:solidFill>
                <a:latin typeface="Calibri" pitchFamily="34" charset="0"/>
                <a:ea typeface="Calibri" pitchFamily="34" charset="-122"/>
                <a:cs typeface="Calibri" pitchFamily="34" charset="-120"/>
              </a:rPr>
              <a:t>Does the AI in security tools earn what it costs?</a:t>
            </a:r>
            <a:endParaRPr lang="en-US" sz="2000" dirty="0"/>
          </a:p>
        </p:txBody>
      </p:sp>
      <p:sp>
        <p:nvSpPr>
          <p:cNvPr id="4" name="Text 2"/>
          <p:cNvSpPr txBox="1"/>
          <p:nvPr/>
        </p:nvSpPr>
        <p:spPr>
          <a:xfrm>
            <a:off x="640080" y="4206240"/>
            <a:ext cx="786384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Nicole Welch  |  Network Security  |  SIP311  |  SME: Briant Becote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7F2"/>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F7D5B"/>
          </a:solidFill>
          <a:ln w="12700">
            <a:solidFill>
              <a:srgbClr val="2F7D5B"/>
            </a:solidFill>
            <a:prstDash val="solid"/>
          </a:ln>
        </p:spPr>
      </p:sp>
      <p:sp>
        <p:nvSpPr>
          <p:cNvPr id="3" name="Text 1"/>
          <p:cNvSpPr txBox="1"/>
          <p:nvPr/>
        </p:nvSpPr>
        <p:spPr>
          <a:xfrm>
            <a:off x="548640" y="320040"/>
            <a:ext cx="8046720" cy="320040"/>
          </a:xfrm>
          <a:prstGeom prst="rect">
            <a:avLst/>
          </a:prstGeom>
          <a:noFill/>
          <a:ln/>
        </p:spPr>
        <p:txBody>
          <a:bodyPr wrap="square" lIns="0" tIns="0" rIns="0" bIns="0" rtlCol="0" anchor="ctr"/>
          <a:lstStyle/>
          <a:p>
            <a:pPr indent="0" marL="0">
              <a:buNone/>
            </a:pPr>
            <a:r>
              <a:rPr lang="en-US" sz="1200" b="1" spc="300" kern="0" dirty="0">
                <a:solidFill>
                  <a:srgbClr val="2F7D5B"/>
                </a:solidFill>
                <a:latin typeface="Calibri" pitchFamily="34" charset="0"/>
                <a:ea typeface="Calibri" pitchFamily="34" charset="-122"/>
                <a:cs typeface="Calibri" pitchFamily="34" charset="-120"/>
              </a:rPr>
              <a:t>PROBLEM</a:t>
            </a:r>
            <a:endParaRPr lang="en-US" sz="1200" dirty="0"/>
          </a:p>
        </p:txBody>
      </p:sp>
      <p:sp>
        <p:nvSpPr>
          <p:cNvPr id="4" name="Text 2"/>
          <p:cNvSpPr txBox="1"/>
          <p:nvPr/>
        </p:nvSpPr>
        <p:spPr>
          <a:xfrm>
            <a:off x="548640" y="640080"/>
            <a:ext cx="8046720" cy="731520"/>
          </a:xfrm>
          <a:prstGeom prst="rect">
            <a:avLst/>
          </a:prstGeom>
          <a:noFill/>
          <a:ln/>
        </p:spPr>
        <p:txBody>
          <a:bodyPr wrap="square" lIns="0" tIns="0" rIns="0" bIns="0" rtlCol="0" anchor="ctr"/>
          <a:lstStyle/>
          <a:p>
            <a:pPr indent="0" marL="0">
              <a:buNone/>
            </a:pPr>
            <a:r>
              <a:rPr lang="en-US" sz="3000" b="1" dirty="0">
                <a:solidFill>
                  <a:srgbClr val="1C2420"/>
                </a:solidFill>
                <a:latin typeface="Calibri" pitchFamily="34" charset="0"/>
                <a:ea typeface="Calibri" pitchFamily="34" charset="-122"/>
                <a:cs typeface="Calibri" pitchFamily="34" charset="-120"/>
              </a:rPr>
              <a:t>AI is being added to security tools without proof</a:t>
            </a:r>
            <a:endParaRPr lang="en-US" sz="3000" dirty="0"/>
          </a:p>
        </p:txBody>
      </p:sp>
      <p:sp>
        <p:nvSpPr>
          <p:cNvPr id="5" name="Text 3"/>
          <p:cNvSpPr txBox="1"/>
          <p:nvPr/>
        </p:nvSpPr>
        <p:spPr>
          <a:xfrm>
            <a:off x="548640" y="1600200"/>
            <a:ext cx="8046720" cy="315468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rgbClr val="1C2420"/>
                </a:solidFill>
                <a:latin typeface="Calibri" pitchFamily="34" charset="0"/>
                <a:ea typeface="Calibri" pitchFamily="34" charset="-122"/>
                <a:cs typeface="Calibri" pitchFamily="34" charset="-120"/>
              </a:rPr>
              <a:t>Vendors are building AI into security products by default</a:t>
            </a:r>
            <a:endParaRPr lang="en-US" sz="2000" dirty="0"/>
          </a:p>
          <a:p>
            <a:pPr marL="342900" indent="-342900">
              <a:spcAft>
                <a:spcPts val="1200"/>
              </a:spcAft>
              <a:buSzPct val="100000"/>
              <a:buChar char="•"/>
            </a:pPr>
            <a:r>
              <a:rPr lang="en-US" sz="2000" dirty="0">
                <a:solidFill>
                  <a:srgbClr val="1C2420"/>
                </a:solidFill>
                <a:latin typeface="Calibri" pitchFamily="34" charset="0"/>
                <a:ea typeface="Calibri" pitchFamily="34" charset="-122"/>
                <a:cs typeface="Calibri" pitchFamily="34" charset="-120"/>
              </a:rPr>
              <a:t>No one publishes the energy cost of these AI features</a:t>
            </a:r>
            <a:endParaRPr lang="en-US" sz="2000" dirty="0"/>
          </a:p>
          <a:p>
            <a:pPr marL="342900" indent="-342900">
              <a:spcAft>
                <a:spcPts val="1200"/>
              </a:spcAft>
              <a:buSzPct val="100000"/>
              <a:buChar char="•"/>
            </a:pPr>
            <a:r>
              <a:rPr lang="en-US" sz="2000" dirty="0">
                <a:solidFill>
                  <a:srgbClr val="1C2420"/>
                </a:solidFill>
                <a:latin typeface="Calibri" pitchFamily="34" charset="0"/>
                <a:ea typeface="Calibri" pitchFamily="34" charset="-122"/>
                <a:cs typeface="Calibri" pitchFamily="34" charset="-120"/>
              </a:rPr>
              <a:t>No one shows whether a traditional tool would catch the same threats</a:t>
            </a:r>
            <a:endParaRPr lang="en-US" sz="2000" dirty="0"/>
          </a:p>
          <a:p>
            <a:pPr marL="342900" indent="-342900">
              <a:spcAft>
                <a:spcPts val="1200"/>
              </a:spcAft>
              <a:buSzPct val="100000"/>
              <a:buChar char="•"/>
            </a:pPr>
            <a:r>
              <a:rPr lang="en-US" sz="2000" dirty="0">
                <a:solidFill>
                  <a:srgbClr val="1C2420"/>
                </a:solidFill>
                <a:latin typeface="Calibri" pitchFamily="34" charset="0"/>
                <a:ea typeface="Calibri" pitchFamily="34" charset="-122"/>
                <a:cs typeface="Calibri" pitchFamily="34" charset="-120"/>
              </a:rPr>
              <a:t>SOC teams pay for tools they cannot evaluate, and junior analysts lose hands-on reps</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7F2"/>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F7D5B"/>
          </a:solidFill>
          <a:ln w="12700">
            <a:solidFill>
              <a:srgbClr val="2F7D5B"/>
            </a:solidFill>
            <a:prstDash val="solid"/>
          </a:ln>
        </p:spPr>
      </p:sp>
      <p:sp>
        <p:nvSpPr>
          <p:cNvPr id="3" name="Text 1"/>
          <p:cNvSpPr txBox="1"/>
          <p:nvPr/>
        </p:nvSpPr>
        <p:spPr>
          <a:xfrm>
            <a:off x="548640" y="320040"/>
            <a:ext cx="8046720" cy="320040"/>
          </a:xfrm>
          <a:prstGeom prst="rect">
            <a:avLst/>
          </a:prstGeom>
          <a:noFill/>
          <a:ln/>
        </p:spPr>
        <p:txBody>
          <a:bodyPr wrap="square" lIns="0" tIns="0" rIns="0" bIns="0" rtlCol="0" anchor="ctr"/>
          <a:lstStyle/>
          <a:p>
            <a:pPr indent="0" marL="0">
              <a:buNone/>
            </a:pPr>
            <a:r>
              <a:rPr lang="en-US" sz="1200" b="1" spc="300" kern="0" dirty="0">
                <a:solidFill>
                  <a:srgbClr val="2F7D5B"/>
                </a:solidFill>
                <a:latin typeface="Calibri" pitchFamily="34" charset="0"/>
                <a:ea typeface="Calibri" pitchFamily="34" charset="-122"/>
                <a:cs typeface="Calibri" pitchFamily="34" charset="-120"/>
              </a:rPr>
              <a:t>INNOVATION CLAIM</a:t>
            </a:r>
            <a:endParaRPr lang="en-US" sz="1200" dirty="0"/>
          </a:p>
        </p:txBody>
      </p:sp>
      <p:sp>
        <p:nvSpPr>
          <p:cNvPr id="4" name="Text 2"/>
          <p:cNvSpPr txBox="1"/>
          <p:nvPr/>
        </p:nvSpPr>
        <p:spPr>
          <a:xfrm>
            <a:off x="548640" y="640080"/>
            <a:ext cx="8046720" cy="731520"/>
          </a:xfrm>
          <a:prstGeom prst="rect">
            <a:avLst/>
          </a:prstGeom>
          <a:noFill/>
          <a:ln/>
        </p:spPr>
        <p:txBody>
          <a:bodyPr wrap="square" lIns="0" tIns="0" rIns="0" bIns="0" rtlCol="0" anchor="ctr"/>
          <a:lstStyle/>
          <a:p>
            <a:pPr indent="0" marL="0">
              <a:buNone/>
            </a:pPr>
            <a:r>
              <a:rPr lang="en-US" sz="3000" b="1" dirty="0">
                <a:solidFill>
                  <a:srgbClr val="1C2420"/>
                </a:solidFill>
                <a:latin typeface="Calibri" pitchFamily="34" charset="0"/>
                <a:ea typeface="Calibri" pitchFamily="34" charset="-122"/>
                <a:cs typeface="Calibri" pitchFamily="34" charset="-120"/>
              </a:rPr>
              <a:t>Accuracy and energy, measured side by side</a:t>
            </a:r>
            <a:endParaRPr lang="en-US" sz="3000" dirty="0"/>
          </a:p>
        </p:txBody>
      </p:sp>
      <p:sp>
        <p:nvSpPr>
          <p:cNvPr id="5" name="Shape 3"/>
          <p:cNvSpPr/>
          <p:nvPr/>
        </p:nvSpPr>
        <p:spPr>
          <a:xfrm>
            <a:off x="548640" y="1645920"/>
            <a:ext cx="8046720" cy="2194560"/>
          </a:xfrm>
          <a:prstGeom prst="rect">
            <a:avLst/>
          </a:prstGeom>
          <a:solidFill>
            <a:srgbClr val="E3F0E8"/>
          </a:solidFill>
          <a:ln w="12700">
            <a:solidFill>
              <a:srgbClr val="E3F0E8"/>
            </a:solidFill>
            <a:prstDash val="solid"/>
          </a:ln>
        </p:spPr>
      </p:sp>
      <p:sp>
        <p:nvSpPr>
          <p:cNvPr id="6" name="Shape 4"/>
          <p:cNvSpPr/>
          <p:nvPr/>
        </p:nvSpPr>
        <p:spPr>
          <a:xfrm>
            <a:off x="548640" y="1645920"/>
            <a:ext cx="73152" cy="2194560"/>
          </a:xfrm>
          <a:prstGeom prst="rect">
            <a:avLst/>
          </a:prstGeom>
          <a:solidFill>
            <a:srgbClr val="2F7D5B"/>
          </a:solidFill>
          <a:ln w="12700">
            <a:solidFill>
              <a:srgbClr val="2F7D5B"/>
            </a:solidFill>
            <a:prstDash val="solid"/>
          </a:ln>
        </p:spPr>
      </p:sp>
      <p:sp>
        <p:nvSpPr>
          <p:cNvPr id="7" name="Text 5"/>
          <p:cNvSpPr txBox="1"/>
          <p:nvPr/>
        </p:nvSpPr>
        <p:spPr>
          <a:xfrm>
            <a:off x="868680" y="1783080"/>
            <a:ext cx="7589520" cy="1920240"/>
          </a:xfrm>
          <a:prstGeom prst="rect">
            <a:avLst/>
          </a:prstGeom>
          <a:noFill/>
          <a:ln/>
        </p:spPr>
        <p:txBody>
          <a:bodyPr wrap="square" lIns="0" tIns="0" rIns="0" bIns="0" rtlCol="0" anchor="ctr"/>
          <a:lstStyle/>
          <a:p>
            <a:pPr indent="0" marL="0">
              <a:buNone/>
            </a:pPr>
            <a:r>
              <a:rPr lang="en-US" sz="2000" dirty="0">
                <a:solidFill>
                  <a:srgbClr val="1C2420"/>
                </a:solidFill>
                <a:latin typeface="Calibri" pitchFamily="34" charset="0"/>
                <a:ea typeface="Calibri" pitchFamily="34" charset="-122"/>
                <a:cs typeface="Calibri" pitchFamily="34" charset="-120"/>
              </a:rPr>
              <a:t>This framework runs the same network traffic through an AI pipeline and a traditional pipeline, then scores both on detection accuracy, false positives, processing time, and carbon emissions. No existing tool compares AI and non-AI security analysis on both accuracy and energy cost.</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7F2"/>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F7D5B"/>
          </a:solidFill>
          <a:ln w="12700">
            <a:solidFill>
              <a:srgbClr val="2F7D5B"/>
            </a:solidFill>
            <a:prstDash val="solid"/>
          </a:ln>
        </p:spPr>
      </p:sp>
      <p:sp>
        <p:nvSpPr>
          <p:cNvPr id="3" name="Text 1"/>
          <p:cNvSpPr txBox="1"/>
          <p:nvPr/>
        </p:nvSpPr>
        <p:spPr>
          <a:xfrm>
            <a:off x="548640" y="320040"/>
            <a:ext cx="8046720" cy="320040"/>
          </a:xfrm>
          <a:prstGeom prst="rect">
            <a:avLst/>
          </a:prstGeom>
          <a:noFill/>
          <a:ln/>
        </p:spPr>
        <p:txBody>
          <a:bodyPr wrap="square" lIns="0" tIns="0" rIns="0" bIns="0" rtlCol="0" anchor="ctr"/>
          <a:lstStyle/>
          <a:p>
            <a:pPr indent="0" marL="0">
              <a:buNone/>
            </a:pPr>
            <a:r>
              <a:rPr lang="en-US" sz="1200" b="1" spc="300" kern="0" dirty="0">
                <a:solidFill>
                  <a:srgbClr val="2F7D5B"/>
                </a:solidFill>
                <a:latin typeface="Calibri" pitchFamily="34" charset="0"/>
                <a:ea typeface="Calibri" pitchFamily="34" charset="-122"/>
                <a:cs typeface="Calibri" pitchFamily="34" charset="-120"/>
              </a:rPr>
              <a:t>TECHNICAL EXPERTISE</a:t>
            </a:r>
            <a:endParaRPr lang="en-US" sz="1200" dirty="0"/>
          </a:p>
        </p:txBody>
      </p:sp>
      <p:sp>
        <p:nvSpPr>
          <p:cNvPr id="4" name="Text 2"/>
          <p:cNvSpPr txBox="1"/>
          <p:nvPr/>
        </p:nvSpPr>
        <p:spPr>
          <a:xfrm>
            <a:off x="548640" y="640080"/>
            <a:ext cx="8046720" cy="731520"/>
          </a:xfrm>
          <a:prstGeom prst="rect">
            <a:avLst/>
          </a:prstGeom>
          <a:noFill/>
          <a:ln/>
        </p:spPr>
        <p:txBody>
          <a:bodyPr wrap="square" lIns="0" tIns="0" rIns="0" bIns="0" rtlCol="0" anchor="ctr"/>
          <a:lstStyle/>
          <a:p>
            <a:pPr indent="0" marL="0">
              <a:buNone/>
            </a:pPr>
            <a:r>
              <a:rPr lang="en-US" sz="3000" b="1" dirty="0">
                <a:solidFill>
                  <a:srgbClr val="1C2420"/>
                </a:solidFill>
                <a:latin typeface="Calibri" pitchFamily="34" charset="0"/>
                <a:ea typeface="Calibri" pitchFamily="34" charset="-122"/>
                <a:cs typeface="Calibri" pitchFamily="34" charset="-120"/>
              </a:rPr>
              <a:t>Tools and coursework behind the build</a:t>
            </a:r>
            <a:endParaRPr lang="en-US" sz="3000" dirty="0"/>
          </a:p>
        </p:txBody>
      </p:sp>
      <p:sp>
        <p:nvSpPr>
          <p:cNvPr id="5" name="Text 3"/>
          <p:cNvSpPr txBox="1"/>
          <p:nvPr/>
        </p:nvSpPr>
        <p:spPr>
          <a:xfrm>
            <a:off x="548640" y="1554480"/>
            <a:ext cx="3840480" cy="320040"/>
          </a:xfrm>
          <a:prstGeom prst="rect">
            <a:avLst/>
          </a:prstGeom>
          <a:noFill/>
          <a:ln/>
        </p:spPr>
        <p:txBody>
          <a:bodyPr wrap="square" lIns="0" tIns="0" rIns="0" bIns="0" rtlCol="0" anchor="ctr"/>
          <a:lstStyle/>
          <a:p>
            <a:pPr indent="0" marL="0">
              <a:buNone/>
            </a:pPr>
            <a:r>
              <a:rPr lang="en-US" sz="1300" b="1" dirty="0">
                <a:solidFill>
                  <a:srgbClr val="2F7D5B"/>
                </a:solidFill>
                <a:latin typeface="Calibri" pitchFamily="34" charset="0"/>
                <a:ea typeface="Calibri" pitchFamily="34" charset="-122"/>
                <a:cs typeface="Calibri" pitchFamily="34" charset="-120"/>
              </a:rPr>
              <a:t>TOOLS</a:t>
            </a:r>
            <a:endParaRPr lang="en-US" sz="1300" dirty="0"/>
          </a:p>
        </p:txBody>
      </p:sp>
      <p:sp>
        <p:nvSpPr>
          <p:cNvPr id="6" name="Text 4"/>
          <p:cNvSpPr txBox="1"/>
          <p:nvPr/>
        </p:nvSpPr>
        <p:spPr>
          <a:xfrm>
            <a:off x="548640" y="1920240"/>
            <a:ext cx="3840480" cy="256032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rgbClr val="1C2420"/>
                </a:solidFill>
                <a:latin typeface="Calibri" pitchFamily="34" charset="0"/>
                <a:ea typeface="Calibri" pitchFamily="34" charset="-122"/>
                <a:cs typeface="Calibri" pitchFamily="34" charset="-120"/>
              </a:rPr>
              <a:t>Python</a:t>
            </a:r>
            <a:endParaRPr lang="en-US" sz="2000" dirty="0"/>
          </a:p>
          <a:p>
            <a:pPr marL="342900" indent="-342900">
              <a:spcAft>
                <a:spcPts val="1000"/>
              </a:spcAft>
              <a:buSzPct val="100000"/>
              <a:buChar char="•"/>
            </a:pPr>
            <a:r>
              <a:rPr lang="en-US" sz="2000" dirty="0">
                <a:solidFill>
                  <a:srgbClr val="1C2420"/>
                </a:solidFill>
                <a:latin typeface="Calibri" pitchFamily="34" charset="0"/>
                <a:ea typeface="Calibri" pitchFamily="34" charset="-122"/>
                <a:cs typeface="Calibri" pitchFamily="34" charset="-120"/>
              </a:rPr>
              <a:t>Zeek</a:t>
            </a:r>
            <a:endParaRPr lang="en-US" sz="2000" dirty="0"/>
          </a:p>
          <a:p>
            <a:pPr marL="342900" indent="-342900">
              <a:spcAft>
                <a:spcPts val="1000"/>
              </a:spcAft>
              <a:buSzPct val="100000"/>
              <a:buChar char="•"/>
            </a:pPr>
            <a:r>
              <a:rPr lang="en-US" sz="2000" dirty="0">
                <a:solidFill>
                  <a:srgbClr val="1C2420"/>
                </a:solidFill>
                <a:latin typeface="Calibri" pitchFamily="34" charset="0"/>
                <a:ea typeface="Calibri" pitchFamily="34" charset="-122"/>
                <a:cs typeface="Calibri" pitchFamily="34" charset="-120"/>
              </a:rPr>
              <a:t>scikit-learn</a:t>
            </a:r>
            <a:endParaRPr lang="en-US" sz="2000" dirty="0"/>
          </a:p>
          <a:p>
            <a:pPr marL="342900" indent="-342900">
              <a:spcAft>
                <a:spcPts val="1000"/>
              </a:spcAft>
              <a:buSzPct val="100000"/>
              <a:buChar char="•"/>
            </a:pPr>
            <a:r>
              <a:rPr lang="en-US" sz="2000" dirty="0">
                <a:solidFill>
                  <a:srgbClr val="1C2420"/>
                </a:solidFill>
                <a:latin typeface="Calibri" pitchFamily="34" charset="0"/>
                <a:ea typeface="Calibri" pitchFamily="34" charset="-122"/>
                <a:cs typeface="Calibri" pitchFamily="34" charset="-120"/>
              </a:rPr>
              <a:t>CodeCarbon</a:t>
            </a:r>
            <a:endParaRPr lang="en-US" sz="2000" dirty="0"/>
          </a:p>
        </p:txBody>
      </p:sp>
      <p:sp>
        <p:nvSpPr>
          <p:cNvPr id="7" name="Text 5"/>
          <p:cNvSpPr txBox="1"/>
          <p:nvPr/>
        </p:nvSpPr>
        <p:spPr>
          <a:xfrm>
            <a:off x="4754880" y="1554480"/>
            <a:ext cx="3840480" cy="320040"/>
          </a:xfrm>
          <a:prstGeom prst="rect">
            <a:avLst/>
          </a:prstGeom>
          <a:noFill/>
          <a:ln/>
        </p:spPr>
        <p:txBody>
          <a:bodyPr wrap="square" lIns="0" tIns="0" rIns="0" bIns="0" rtlCol="0" anchor="ctr"/>
          <a:lstStyle/>
          <a:p>
            <a:pPr indent="0" marL="0">
              <a:buNone/>
            </a:pPr>
            <a:r>
              <a:rPr lang="en-US" sz="1300" b="1" dirty="0">
                <a:solidFill>
                  <a:srgbClr val="2F7D5B"/>
                </a:solidFill>
                <a:latin typeface="Calibri" pitchFamily="34" charset="0"/>
                <a:ea typeface="Calibri" pitchFamily="34" charset="-122"/>
                <a:cs typeface="Calibri" pitchFamily="34" charset="-120"/>
              </a:rPr>
              <a:t>UAT COURSES</a:t>
            </a:r>
            <a:endParaRPr lang="en-US" sz="1300" dirty="0"/>
          </a:p>
        </p:txBody>
      </p:sp>
      <p:sp>
        <p:nvSpPr>
          <p:cNvPr id="8" name="Text 6"/>
          <p:cNvSpPr txBox="1"/>
          <p:nvPr/>
        </p:nvSpPr>
        <p:spPr>
          <a:xfrm>
            <a:off x="4754880" y="1920240"/>
            <a:ext cx="4023360" cy="25603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C2420"/>
                </a:solidFill>
                <a:latin typeface="Calibri" pitchFamily="34" charset="0"/>
                <a:ea typeface="Calibri" pitchFamily="34" charset="-122"/>
                <a:cs typeface="Calibri" pitchFamily="34" charset="-120"/>
              </a:rPr>
              <a:t>CSC235 Python Programming I</a:t>
            </a:r>
            <a:endParaRPr lang="en-US" sz="1600" dirty="0"/>
          </a:p>
          <a:p>
            <a:pPr marL="342900" indent="-342900">
              <a:spcAft>
                <a:spcPts val="800"/>
              </a:spcAft>
              <a:buSzPct val="100000"/>
              <a:buChar char="•"/>
            </a:pPr>
            <a:r>
              <a:rPr lang="en-US" sz="1600" dirty="0">
                <a:solidFill>
                  <a:srgbClr val="1C2420"/>
                </a:solidFill>
                <a:latin typeface="Calibri" pitchFamily="34" charset="0"/>
                <a:ea typeface="Calibri" pitchFamily="34" charset="-122"/>
                <a:cs typeface="Calibri" pitchFamily="34" charset="-120"/>
              </a:rPr>
              <a:t>NTS370 Shell Scripting</a:t>
            </a:r>
            <a:endParaRPr lang="en-US" sz="1600" dirty="0"/>
          </a:p>
          <a:p>
            <a:pPr marL="342900" indent="-342900">
              <a:spcAft>
                <a:spcPts val="800"/>
              </a:spcAft>
              <a:buSzPct val="100000"/>
              <a:buChar char="•"/>
            </a:pPr>
            <a:r>
              <a:rPr lang="en-US" sz="1600" dirty="0">
                <a:solidFill>
                  <a:srgbClr val="1C2420"/>
                </a:solidFill>
                <a:latin typeface="Calibri" pitchFamily="34" charset="0"/>
                <a:ea typeface="Calibri" pitchFamily="34" charset="-122"/>
                <a:cs typeface="Calibri" pitchFamily="34" charset="-120"/>
              </a:rPr>
              <a:t>CSC338 Statistical Data Science</a:t>
            </a:r>
            <a:endParaRPr lang="en-US" sz="1600" dirty="0"/>
          </a:p>
          <a:p>
            <a:pPr marL="342900" indent="-342900">
              <a:spcAft>
                <a:spcPts val="800"/>
              </a:spcAft>
              <a:buSzPct val="100000"/>
              <a:buChar char="•"/>
            </a:pPr>
            <a:r>
              <a:rPr lang="en-US" sz="1600" dirty="0">
                <a:solidFill>
                  <a:srgbClr val="1C2420"/>
                </a:solidFill>
                <a:latin typeface="Calibri" pitchFamily="34" charset="0"/>
                <a:ea typeface="Calibri" pitchFamily="34" charset="-122"/>
                <a:cs typeface="Calibri" pitchFamily="34" charset="-120"/>
              </a:rPr>
              <a:t>NTS350 Network Security Monitoring</a:t>
            </a:r>
            <a:endParaRPr lang="en-US" sz="1600" dirty="0"/>
          </a:p>
          <a:p>
            <a:pPr marL="342900" indent="-342900">
              <a:spcAft>
                <a:spcPts val="800"/>
              </a:spcAft>
              <a:buSzPct val="100000"/>
              <a:buChar char="•"/>
            </a:pPr>
            <a:r>
              <a:rPr lang="en-US" sz="1600" dirty="0">
                <a:solidFill>
                  <a:srgbClr val="1C2420"/>
                </a:solidFill>
                <a:latin typeface="Calibri" pitchFamily="34" charset="0"/>
                <a:ea typeface="Calibri" pitchFamily="34" charset="-122"/>
                <a:cs typeface="Calibri" pitchFamily="34" charset="-120"/>
              </a:rPr>
              <a:t>NTS465 Security Evaluation and Assessment</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7F2"/>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F7D5B"/>
          </a:solidFill>
          <a:ln w="12700">
            <a:solidFill>
              <a:srgbClr val="2F7D5B"/>
            </a:solidFill>
            <a:prstDash val="solid"/>
          </a:ln>
        </p:spPr>
      </p:sp>
      <p:sp>
        <p:nvSpPr>
          <p:cNvPr id="3" name="Text 1"/>
          <p:cNvSpPr txBox="1"/>
          <p:nvPr/>
        </p:nvSpPr>
        <p:spPr>
          <a:xfrm>
            <a:off x="548640" y="320040"/>
            <a:ext cx="8046720" cy="320040"/>
          </a:xfrm>
          <a:prstGeom prst="rect">
            <a:avLst/>
          </a:prstGeom>
          <a:noFill/>
          <a:ln/>
        </p:spPr>
        <p:txBody>
          <a:bodyPr wrap="square" lIns="0" tIns="0" rIns="0" bIns="0" rtlCol="0" anchor="ctr"/>
          <a:lstStyle/>
          <a:p>
            <a:pPr indent="0" marL="0">
              <a:buNone/>
            </a:pPr>
            <a:r>
              <a:rPr lang="en-US" sz="1200" b="1" spc="300" kern="0" dirty="0">
                <a:solidFill>
                  <a:srgbClr val="2F7D5B"/>
                </a:solidFill>
                <a:latin typeface="Calibri" pitchFamily="34" charset="0"/>
                <a:ea typeface="Calibri" pitchFamily="34" charset="-122"/>
                <a:cs typeface="Calibri" pitchFamily="34" charset="-120"/>
              </a:rPr>
              <a:t>PROJECT DESCRIPTION AND SCOPE</a:t>
            </a:r>
            <a:endParaRPr lang="en-US" sz="1200" dirty="0"/>
          </a:p>
        </p:txBody>
      </p:sp>
      <p:sp>
        <p:nvSpPr>
          <p:cNvPr id="4" name="Text 2"/>
          <p:cNvSpPr txBox="1"/>
          <p:nvPr/>
        </p:nvSpPr>
        <p:spPr>
          <a:xfrm>
            <a:off x="548640" y="640080"/>
            <a:ext cx="8046720" cy="731520"/>
          </a:xfrm>
          <a:prstGeom prst="rect">
            <a:avLst/>
          </a:prstGeom>
          <a:noFill/>
          <a:ln/>
        </p:spPr>
        <p:txBody>
          <a:bodyPr wrap="square" lIns="0" tIns="0" rIns="0" bIns="0" rtlCol="0" anchor="ctr"/>
          <a:lstStyle/>
          <a:p>
            <a:pPr indent="0" marL="0">
              <a:buNone/>
            </a:pPr>
            <a:r>
              <a:rPr lang="en-US" sz="3000" b="1" dirty="0">
                <a:solidFill>
                  <a:srgbClr val="1C2420"/>
                </a:solidFill>
                <a:latin typeface="Calibri" pitchFamily="34" charset="0"/>
                <a:ea typeface="Calibri" pitchFamily="34" charset="-122"/>
                <a:cs typeface="Calibri" pitchFamily="34" charset="-120"/>
              </a:rPr>
              <a:t>One task, two pipelines, one report</a:t>
            </a:r>
            <a:endParaRPr lang="en-US" sz="3000" dirty="0"/>
          </a:p>
        </p:txBody>
      </p:sp>
      <p:sp>
        <p:nvSpPr>
          <p:cNvPr id="5" name="Shape 3"/>
          <p:cNvSpPr/>
          <p:nvPr/>
        </p:nvSpPr>
        <p:spPr>
          <a:xfrm>
            <a:off x="548640" y="1645920"/>
            <a:ext cx="2560320" cy="2651760"/>
          </a:xfrm>
          <a:prstGeom prst="rect">
            <a:avLst/>
          </a:prstGeom>
          <a:solidFill>
            <a:srgbClr val="FFFFFF"/>
          </a:solidFill>
          <a:ln w="12700">
            <a:solidFill>
              <a:srgbClr val="D9DED8"/>
            </a:solidFill>
            <a:prstDash val="solid"/>
          </a:ln>
        </p:spPr>
      </p:sp>
      <p:sp>
        <p:nvSpPr>
          <p:cNvPr id="6" name="Text 4"/>
          <p:cNvSpPr txBox="1"/>
          <p:nvPr/>
        </p:nvSpPr>
        <p:spPr>
          <a:xfrm>
            <a:off x="731520" y="1783080"/>
            <a:ext cx="2194560" cy="320040"/>
          </a:xfrm>
          <a:prstGeom prst="rect">
            <a:avLst/>
          </a:prstGeom>
          <a:noFill/>
          <a:ln/>
        </p:spPr>
        <p:txBody>
          <a:bodyPr wrap="square" lIns="0" tIns="0" rIns="0" bIns="0" rtlCol="0" anchor="ctr"/>
          <a:lstStyle/>
          <a:p>
            <a:pPr indent="0" marL="0">
              <a:buNone/>
            </a:pPr>
            <a:r>
              <a:rPr lang="en-US" sz="1300" b="1" dirty="0">
                <a:solidFill>
                  <a:srgbClr val="2F7D5B"/>
                </a:solidFill>
                <a:latin typeface="Calibri" pitchFamily="34" charset="0"/>
                <a:ea typeface="Calibri" pitchFamily="34" charset="-122"/>
                <a:cs typeface="Calibri" pitchFamily="34" charset="-120"/>
              </a:rPr>
              <a:t>SCOPE</a:t>
            </a:r>
            <a:endParaRPr lang="en-US" sz="1300" dirty="0"/>
          </a:p>
        </p:txBody>
      </p:sp>
      <p:sp>
        <p:nvSpPr>
          <p:cNvPr id="7" name="Text 5"/>
          <p:cNvSpPr txBox="1"/>
          <p:nvPr/>
        </p:nvSpPr>
        <p:spPr>
          <a:xfrm>
            <a:off x="731520" y="2194560"/>
            <a:ext cx="2194560" cy="2011680"/>
          </a:xfrm>
          <a:prstGeom prst="rect">
            <a:avLst/>
          </a:prstGeom>
          <a:noFill/>
          <a:ln/>
        </p:spPr>
        <p:txBody>
          <a:bodyPr wrap="square" lIns="0" tIns="0" rIns="0" bIns="0" rtlCol="0" anchor="t"/>
          <a:lstStyle/>
          <a:p>
            <a:pPr indent="0" marL="0">
              <a:spcAft>
                <a:spcPts val="600"/>
              </a:spcAft>
              <a:buNone/>
            </a:pPr>
            <a:r>
              <a:rPr lang="en-US" sz="1700" dirty="0">
                <a:solidFill>
                  <a:srgbClr val="1C2420"/>
                </a:solidFill>
                <a:latin typeface="Calibri" pitchFamily="34" charset="0"/>
                <a:ea typeface="Calibri" pitchFamily="34" charset="-122"/>
                <a:cs typeface="Calibri" pitchFamily="34" charset="-120"/>
              </a:rPr>
              <a:t>One analysis task, two pipelines, one comparison report</a:t>
            </a:r>
            <a:endParaRPr lang="en-US" sz="1700" dirty="0"/>
          </a:p>
        </p:txBody>
      </p:sp>
      <p:sp>
        <p:nvSpPr>
          <p:cNvPr id="8" name="Shape 6"/>
          <p:cNvSpPr/>
          <p:nvPr/>
        </p:nvSpPr>
        <p:spPr>
          <a:xfrm>
            <a:off x="3291840" y="1645920"/>
            <a:ext cx="2560320" cy="2651760"/>
          </a:xfrm>
          <a:prstGeom prst="rect">
            <a:avLst/>
          </a:prstGeom>
          <a:solidFill>
            <a:srgbClr val="FFFFFF"/>
          </a:solidFill>
          <a:ln w="12700">
            <a:solidFill>
              <a:srgbClr val="D9DED8"/>
            </a:solidFill>
            <a:prstDash val="solid"/>
          </a:ln>
        </p:spPr>
      </p:sp>
      <p:sp>
        <p:nvSpPr>
          <p:cNvPr id="9" name="Text 7"/>
          <p:cNvSpPr txBox="1"/>
          <p:nvPr/>
        </p:nvSpPr>
        <p:spPr>
          <a:xfrm>
            <a:off x="3474720" y="1783080"/>
            <a:ext cx="2194560" cy="320040"/>
          </a:xfrm>
          <a:prstGeom prst="rect">
            <a:avLst/>
          </a:prstGeom>
          <a:noFill/>
          <a:ln/>
        </p:spPr>
        <p:txBody>
          <a:bodyPr wrap="square" lIns="0" tIns="0" rIns="0" bIns="0" rtlCol="0" anchor="ctr"/>
          <a:lstStyle/>
          <a:p>
            <a:pPr indent="0" marL="0">
              <a:buNone/>
            </a:pPr>
            <a:r>
              <a:rPr lang="en-US" sz="1300" b="1" dirty="0">
                <a:solidFill>
                  <a:srgbClr val="2F7D5B"/>
                </a:solidFill>
                <a:latin typeface="Calibri" pitchFamily="34" charset="0"/>
                <a:ea typeface="Calibri" pitchFamily="34" charset="-122"/>
                <a:cs typeface="Calibri" pitchFamily="34" charset="-120"/>
              </a:rPr>
              <a:t>BUDGET</a:t>
            </a:r>
            <a:endParaRPr lang="en-US" sz="1300" dirty="0"/>
          </a:p>
        </p:txBody>
      </p:sp>
      <p:sp>
        <p:nvSpPr>
          <p:cNvPr id="10" name="Text 8"/>
          <p:cNvSpPr txBox="1"/>
          <p:nvPr/>
        </p:nvSpPr>
        <p:spPr>
          <a:xfrm>
            <a:off x="3474720" y="2194560"/>
            <a:ext cx="2194560" cy="2011680"/>
          </a:xfrm>
          <a:prstGeom prst="rect">
            <a:avLst/>
          </a:prstGeom>
          <a:noFill/>
          <a:ln/>
        </p:spPr>
        <p:txBody>
          <a:bodyPr wrap="square" lIns="0" tIns="0" rIns="0" bIns="0" rtlCol="0" anchor="t"/>
          <a:lstStyle/>
          <a:p>
            <a:pPr indent="0" marL="0">
              <a:spcAft>
                <a:spcPts val="600"/>
              </a:spcAft>
              <a:buNone/>
            </a:pPr>
            <a:r>
              <a:rPr lang="en-US" sz="1700" dirty="0">
                <a:solidFill>
                  <a:srgbClr val="1C2420"/>
                </a:solidFill>
                <a:latin typeface="Calibri" pitchFamily="34" charset="0"/>
                <a:ea typeface="Calibri" pitchFamily="34" charset="-122"/>
                <a:cs typeface="Calibri" pitchFamily="34" charset="-120"/>
              </a:rPr>
              <a:t>$0. Every tool is open source</a:t>
            </a:r>
            <a:endParaRPr lang="en-US" sz="1700" dirty="0"/>
          </a:p>
        </p:txBody>
      </p:sp>
      <p:sp>
        <p:nvSpPr>
          <p:cNvPr id="11" name="Shape 9"/>
          <p:cNvSpPr/>
          <p:nvPr/>
        </p:nvSpPr>
        <p:spPr>
          <a:xfrm>
            <a:off x="6035040" y="1645920"/>
            <a:ext cx="2560320" cy="2651760"/>
          </a:xfrm>
          <a:prstGeom prst="rect">
            <a:avLst/>
          </a:prstGeom>
          <a:solidFill>
            <a:srgbClr val="FFFFFF"/>
          </a:solidFill>
          <a:ln w="12700">
            <a:solidFill>
              <a:srgbClr val="D9DED8"/>
            </a:solidFill>
            <a:prstDash val="solid"/>
          </a:ln>
        </p:spPr>
      </p:sp>
      <p:sp>
        <p:nvSpPr>
          <p:cNvPr id="12" name="Text 10"/>
          <p:cNvSpPr txBox="1"/>
          <p:nvPr/>
        </p:nvSpPr>
        <p:spPr>
          <a:xfrm>
            <a:off x="6217920" y="1783080"/>
            <a:ext cx="2194560" cy="320040"/>
          </a:xfrm>
          <a:prstGeom prst="rect">
            <a:avLst/>
          </a:prstGeom>
          <a:noFill/>
          <a:ln/>
        </p:spPr>
        <p:txBody>
          <a:bodyPr wrap="square" lIns="0" tIns="0" rIns="0" bIns="0" rtlCol="0" anchor="ctr"/>
          <a:lstStyle/>
          <a:p>
            <a:pPr indent="0" marL="0">
              <a:buNone/>
            </a:pPr>
            <a:r>
              <a:rPr lang="en-US" sz="1300" b="1" dirty="0">
                <a:solidFill>
                  <a:srgbClr val="2F7D5B"/>
                </a:solidFill>
                <a:latin typeface="Calibri" pitchFamily="34" charset="0"/>
                <a:ea typeface="Calibri" pitchFamily="34" charset="-122"/>
                <a:cs typeface="Calibri" pitchFamily="34" charset="-120"/>
              </a:rPr>
              <a:t>TIMELINE</a:t>
            </a:r>
            <a:endParaRPr lang="en-US" sz="1300" dirty="0"/>
          </a:p>
        </p:txBody>
      </p:sp>
      <p:sp>
        <p:nvSpPr>
          <p:cNvPr id="13" name="Text 11"/>
          <p:cNvSpPr txBox="1"/>
          <p:nvPr/>
        </p:nvSpPr>
        <p:spPr>
          <a:xfrm>
            <a:off x="6217920" y="2194560"/>
            <a:ext cx="2194560" cy="2011680"/>
          </a:xfrm>
          <a:prstGeom prst="rect">
            <a:avLst/>
          </a:prstGeom>
          <a:noFill/>
          <a:ln/>
        </p:spPr>
        <p:txBody>
          <a:bodyPr wrap="square" lIns="0" tIns="0" rIns="0" bIns="0" rtlCol="0" anchor="t"/>
          <a:lstStyle/>
          <a:p>
            <a:pPr indent="0" marL="0">
              <a:spcAft>
                <a:spcPts val="600"/>
              </a:spcAft>
              <a:buNone/>
            </a:pPr>
            <a:r>
              <a:rPr lang="en-US" sz="1700" dirty="0">
                <a:solidFill>
                  <a:srgbClr val="1C2420"/>
                </a:solidFill>
                <a:latin typeface="Calibri" pitchFamily="34" charset="0"/>
                <a:ea typeface="Calibri" pitchFamily="34" charset="-122"/>
                <a:cs typeface="Calibri" pitchFamily="34" charset="-120"/>
              </a:rPr>
              <a:t>SIP311 plan and prototype</a:t>
            </a:r>
            <a:endParaRPr lang="en-US" sz="1700" dirty="0"/>
          </a:p>
          <a:p>
            <a:pPr indent="0" marL="0">
              <a:spcAft>
                <a:spcPts val="600"/>
              </a:spcAft>
              <a:buNone/>
            </a:pPr>
            <a:r>
              <a:rPr lang="en-US" sz="1700" dirty="0">
                <a:solidFill>
                  <a:srgbClr val="1C2420"/>
                </a:solidFill>
                <a:latin typeface="Calibri" pitchFamily="34" charset="0"/>
                <a:ea typeface="Calibri" pitchFamily="34" charset="-122"/>
                <a:cs typeface="Calibri" pitchFamily="34" charset="-120"/>
              </a:rPr>
              <a:t>SIP408 working build</a:t>
            </a:r>
            <a:endParaRPr lang="en-US" sz="1700" dirty="0"/>
          </a:p>
          <a:p>
            <a:pPr indent="0" marL="0">
              <a:spcAft>
                <a:spcPts val="600"/>
              </a:spcAft>
              <a:buNone/>
            </a:pPr>
            <a:r>
              <a:rPr lang="en-US" sz="1700" dirty="0">
                <a:solidFill>
                  <a:srgbClr val="1C2420"/>
                </a:solidFill>
                <a:latin typeface="Calibri" pitchFamily="34" charset="0"/>
                <a:ea typeface="Calibri" pitchFamily="34" charset="-122"/>
                <a:cs typeface="Calibri" pitchFamily="34" charset="-120"/>
              </a:rPr>
              <a:t>SIP409 showcase</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7F2"/>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F7D5B"/>
          </a:solidFill>
          <a:ln w="12700">
            <a:solidFill>
              <a:srgbClr val="2F7D5B"/>
            </a:solidFill>
            <a:prstDash val="solid"/>
          </a:ln>
        </p:spPr>
      </p:sp>
      <p:sp>
        <p:nvSpPr>
          <p:cNvPr id="3" name="Text 1"/>
          <p:cNvSpPr txBox="1"/>
          <p:nvPr/>
        </p:nvSpPr>
        <p:spPr>
          <a:xfrm>
            <a:off x="548640" y="320040"/>
            <a:ext cx="8046720" cy="320040"/>
          </a:xfrm>
          <a:prstGeom prst="rect">
            <a:avLst/>
          </a:prstGeom>
          <a:noFill/>
          <a:ln/>
        </p:spPr>
        <p:txBody>
          <a:bodyPr wrap="square" lIns="0" tIns="0" rIns="0" bIns="0" rtlCol="0" anchor="ctr"/>
          <a:lstStyle/>
          <a:p>
            <a:pPr indent="0" marL="0">
              <a:buNone/>
            </a:pPr>
            <a:r>
              <a:rPr lang="en-US" sz="1200" b="1" spc="300" kern="0" dirty="0">
                <a:solidFill>
                  <a:srgbClr val="2F7D5B"/>
                </a:solidFill>
                <a:latin typeface="Calibri" pitchFamily="34" charset="0"/>
                <a:ea typeface="Calibri" pitchFamily="34" charset="-122"/>
                <a:cs typeface="Calibri" pitchFamily="34" charset="-120"/>
              </a:rPr>
              <a:t>TARGET MARKET</a:t>
            </a:r>
            <a:endParaRPr lang="en-US" sz="1200" dirty="0"/>
          </a:p>
        </p:txBody>
      </p:sp>
      <p:sp>
        <p:nvSpPr>
          <p:cNvPr id="4" name="Text 2"/>
          <p:cNvSpPr txBox="1"/>
          <p:nvPr/>
        </p:nvSpPr>
        <p:spPr>
          <a:xfrm>
            <a:off x="548640" y="640080"/>
            <a:ext cx="8046720" cy="731520"/>
          </a:xfrm>
          <a:prstGeom prst="rect">
            <a:avLst/>
          </a:prstGeom>
          <a:noFill/>
          <a:ln/>
        </p:spPr>
        <p:txBody>
          <a:bodyPr wrap="square" lIns="0" tIns="0" rIns="0" bIns="0" rtlCol="0" anchor="ctr"/>
          <a:lstStyle/>
          <a:p>
            <a:pPr indent="0" marL="0">
              <a:buNone/>
            </a:pPr>
            <a:r>
              <a:rPr lang="en-US" sz="3000" b="1" dirty="0">
                <a:solidFill>
                  <a:srgbClr val="1C2420"/>
                </a:solidFill>
                <a:latin typeface="Calibri" pitchFamily="34" charset="0"/>
                <a:ea typeface="Calibri" pitchFamily="34" charset="-122"/>
                <a:cs typeface="Calibri" pitchFamily="34" charset="-120"/>
              </a:rPr>
              <a:t>Who needs this</a:t>
            </a:r>
            <a:endParaRPr lang="en-US" sz="3000" dirty="0"/>
          </a:p>
        </p:txBody>
      </p:sp>
      <p:sp>
        <p:nvSpPr>
          <p:cNvPr id="5" name="Text 3"/>
          <p:cNvSpPr txBox="1"/>
          <p:nvPr/>
        </p:nvSpPr>
        <p:spPr>
          <a:xfrm>
            <a:off x="548640" y="1600200"/>
            <a:ext cx="8046720" cy="315468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rgbClr val="1C2420"/>
                </a:solidFill>
                <a:latin typeface="Calibri" pitchFamily="34" charset="0"/>
                <a:ea typeface="Calibri" pitchFamily="34" charset="-122"/>
                <a:cs typeface="Calibri" pitchFamily="34" charset="-120"/>
              </a:rPr>
              <a:t>SOC analysts and managers</a:t>
            </a:r>
            <a:endParaRPr lang="en-US" sz="2000" dirty="0"/>
          </a:p>
          <a:p>
            <a:pPr marL="342900" indent="-342900">
              <a:spcAft>
                <a:spcPts val="1200"/>
              </a:spcAft>
              <a:buSzPct val="100000"/>
              <a:buChar char="•"/>
            </a:pPr>
            <a:r>
              <a:rPr lang="en-US" sz="2000" dirty="0">
                <a:solidFill>
                  <a:srgbClr val="1C2420"/>
                </a:solidFill>
                <a:latin typeface="Calibri" pitchFamily="34" charset="0"/>
                <a:ea typeface="Calibri" pitchFamily="34" charset="-122"/>
                <a:cs typeface="Calibri" pitchFamily="34" charset="-120"/>
              </a:rPr>
              <a:t>Security leaders making purchasing decisions</a:t>
            </a:r>
            <a:endParaRPr lang="en-US" sz="2000" dirty="0"/>
          </a:p>
          <a:p>
            <a:pPr marL="342900" indent="-342900">
              <a:spcAft>
                <a:spcPts val="1200"/>
              </a:spcAft>
              <a:buSzPct val="100000"/>
              <a:buChar char="•"/>
            </a:pPr>
            <a:r>
              <a:rPr lang="en-US" sz="2000" dirty="0">
                <a:solidFill>
                  <a:srgbClr val="1C2420"/>
                </a:solidFill>
                <a:latin typeface="Calibri" pitchFamily="34" charset="0"/>
                <a:ea typeface="Calibri" pitchFamily="34" charset="-122"/>
                <a:cs typeface="Calibri" pitchFamily="34" charset="-120"/>
              </a:rPr>
              <a:t>Security educators</a:t>
            </a:r>
            <a:endParaRPr lang="en-US" sz="2000" dirty="0"/>
          </a:p>
          <a:p>
            <a:pPr marL="342900" indent="-342900">
              <a:spcAft>
                <a:spcPts val="1200"/>
              </a:spcAft>
              <a:buSzPct val="100000"/>
              <a:buChar char="•"/>
            </a:pPr>
            <a:r>
              <a:rPr lang="en-US" sz="2000" dirty="0">
                <a:solidFill>
                  <a:srgbClr val="1C2420"/>
                </a:solidFill>
                <a:latin typeface="Calibri" pitchFamily="34" charset="0"/>
                <a:ea typeface="Calibri" pitchFamily="34" charset="-122"/>
                <a:cs typeface="Calibri" pitchFamily="34" charset="-120"/>
              </a:rPr>
              <a:t>Organizations with sustainability goals</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7F2"/>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F7D5B"/>
          </a:solidFill>
          <a:ln w="12700">
            <a:solidFill>
              <a:srgbClr val="2F7D5B"/>
            </a:solidFill>
            <a:prstDash val="solid"/>
          </a:ln>
        </p:spPr>
      </p:sp>
      <p:sp>
        <p:nvSpPr>
          <p:cNvPr id="3" name="Text 1"/>
          <p:cNvSpPr txBox="1"/>
          <p:nvPr/>
        </p:nvSpPr>
        <p:spPr>
          <a:xfrm>
            <a:off x="548640" y="320040"/>
            <a:ext cx="8046720" cy="320040"/>
          </a:xfrm>
          <a:prstGeom prst="rect">
            <a:avLst/>
          </a:prstGeom>
          <a:noFill/>
          <a:ln/>
        </p:spPr>
        <p:txBody>
          <a:bodyPr wrap="square" lIns="0" tIns="0" rIns="0" bIns="0" rtlCol="0" anchor="ctr"/>
          <a:lstStyle/>
          <a:p>
            <a:pPr indent="0" marL="0">
              <a:buNone/>
            </a:pPr>
            <a:r>
              <a:rPr lang="en-US" sz="1200" b="1" spc="300" kern="0" dirty="0">
                <a:solidFill>
                  <a:srgbClr val="2F7D5B"/>
                </a:solidFill>
                <a:latin typeface="Calibri" pitchFamily="34" charset="0"/>
                <a:ea typeface="Calibri" pitchFamily="34" charset="-122"/>
                <a:cs typeface="Calibri" pitchFamily="34" charset="-120"/>
              </a:rPr>
              <a:t>PRIOR ART</a:t>
            </a:r>
            <a:endParaRPr lang="en-US" sz="1200" dirty="0"/>
          </a:p>
        </p:txBody>
      </p:sp>
      <p:sp>
        <p:nvSpPr>
          <p:cNvPr id="4" name="Text 2"/>
          <p:cNvSpPr txBox="1"/>
          <p:nvPr/>
        </p:nvSpPr>
        <p:spPr>
          <a:xfrm>
            <a:off x="548640" y="640080"/>
            <a:ext cx="8046720" cy="731520"/>
          </a:xfrm>
          <a:prstGeom prst="rect">
            <a:avLst/>
          </a:prstGeom>
          <a:noFill/>
          <a:ln/>
        </p:spPr>
        <p:txBody>
          <a:bodyPr wrap="square" lIns="0" tIns="0" rIns="0" bIns="0" rtlCol="0" anchor="ctr"/>
          <a:lstStyle/>
          <a:p>
            <a:pPr indent="0" marL="0">
              <a:buNone/>
            </a:pPr>
            <a:r>
              <a:rPr lang="en-US" sz="3000" b="1" dirty="0">
                <a:solidFill>
                  <a:srgbClr val="1C2420"/>
                </a:solidFill>
                <a:latin typeface="Calibri" pitchFamily="34" charset="0"/>
                <a:ea typeface="Calibri" pitchFamily="34" charset="-122"/>
                <a:cs typeface="Calibri" pitchFamily="34" charset="-120"/>
              </a:rPr>
              <a:t>What exists, and what is missing</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8046720" cy="914400"/>
        </p:xfrm>
        <a:graphic>
          <a:graphicData uri="http://schemas.openxmlformats.org/drawingml/2006/table">
            <a:tbl>
              <a:tblPr/>
              <a:tblGrid>
                <a:gridCol w="2377440"/>
                <a:gridCol w="2651760"/>
                <a:gridCol w="3017520"/>
              </a:tblGrid>
              <a:tr h="56692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Existing work</a:t>
                      </a:r>
                      <a:endParaRPr lang="en-US" sz="1500" dirty="0">
                        <a:latin typeface="Calibri" charset="0"/>
                        <a:ea typeface="Calibri" charset="0"/>
                        <a:cs typeface="Calibri" charset="0"/>
                      </a:endParaRPr>
                    </a:p>
                  </a:txBody>
                  <a:tcPr marL="91440" marR="91440" marT="45720" marB="4572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solidFill>
                      <a:srgbClr val="2F7D5B"/>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What it does</a:t>
                      </a:r>
                      <a:endParaRPr lang="en-US" sz="1500" dirty="0">
                        <a:latin typeface="Calibri" charset="0"/>
                        <a:ea typeface="Calibri" charset="0"/>
                        <a:cs typeface="Calibri" charset="0"/>
                      </a:endParaRPr>
                    </a:p>
                  </a:txBody>
                  <a:tcPr marL="91440" marR="91440" marT="45720" marB="4572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solidFill>
                      <a:srgbClr val="2F7D5B"/>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What is missing</a:t>
                      </a:r>
                      <a:endParaRPr lang="en-US" sz="1500" dirty="0">
                        <a:latin typeface="Calibri" charset="0"/>
                        <a:ea typeface="Calibri" charset="0"/>
                        <a:cs typeface="Calibri" charset="0"/>
                      </a:endParaRPr>
                    </a:p>
                  </a:txBody>
                  <a:tcPr marL="91440" marR="91440" marT="45720" marB="4572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solidFill>
                      <a:srgbClr val="2F7D5B"/>
                    </a:solidFill>
                  </a:tcPr>
                </a:tc>
              </a:tr>
              <a:tr h="566928">
                <a:tc>
                  <a:txBody>
                    <a:bodyPr/>
                    <a:lstStyle/>
                    <a:p>
                      <a:pPr indent="0" marL="0">
                        <a:buNone/>
                      </a:pPr>
                      <a:r>
                        <a:rPr lang="en-US" sz="1500" dirty="0">
                          <a:solidFill>
                            <a:srgbClr val="1C2420"/>
                          </a:solidFill>
                          <a:latin typeface="Calibri" pitchFamily="34" charset="0"/>
                          <a:ea typeface="Calibri" pitchFamily="34" charset="-122"/>
                          <a:cs typeface="Calibri" pitchFamily="34" charset="-120"/>
                        </a:rPr>
                        <a:t>CodeCarbon</a:t>
                      </a:r>
                      <a:endParaRPr lang="en-US" sz="1500" dirty="0">
                        <a:latin typeface="Calibri" charset="0"/>
                        <a:ea typeface="Calibri" charset="0"/>
                        <a:cs typeface="Calibri" charset="0"/>
                      </a:endParaRPr>
                    </a:p>
                  </a:txBody>
                  <a:tcPr marL="91440" marR="91440" marT="45720" marB="4572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solidFill>
                      <a:srgbClr val="FFFFFF"/>
                    </a:solidFill>
                  </a:tcPr>
                </a:tc>
                <a:tc>
                  <a:txBody>
                    <a:bodyPr/>
                    <a:lstStyle/>
                    <a:p>
                      <a:pPr indent="0" marL="0">
                        <a:buNone/>
                      </a:pPr>
                      <a:r>
                        <a:rPr lang="en-US" sz="1500" dirty="0">
                          <a:solidFill>
                            <a:srgbClr val="1C2420"/>
                          </a:solidFill>
                          <a:latin typeface="Calibri" pitchFamily="34" charset="0"/>
                          <a:ea typeface="Calibri" pitchFamily="34" charset="-122"/>
                          <a:cs typeface="Calibri" pitchFamily="34" charset="-120"/>
                        </a:rPr>
                        <a:t>Measures emissions from code</a:t>
                      </a:r>
                      <a:endParaRPr lang="en-US" sz="1500" dirty="0">
                        <a:latin typeface="Calibri" charset="0"/>
                        <a:ea typeface="Calibri" charset="0"/>
                        <a:cs typeface="Calibri" charset="0"/>
                      </a:endParaRPr>
                    </a:p>
                  </a:txBody>
                  <a:tcPr marL="91440" marR="91440" marT="45720" marB="4572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solidFill>
                      <a:srgbClr val="FFFFFF"/>
                    </a:solidFill>
                  </a:tcPr>
                </a:tc>
                <a:tc>
                  <a:txBody>
                    <a:bodyPr/>
                    <a:lstStyle/>
                    <a:p>
                      <a:pPr indent="0" marL="0">
                        <a:buNone/>
                      </a:pPr>
                      <a:r>
                        <a:rPr lang="en-US" sz="1500" dirty="0">
                          <a:solidFill>
                            <a:srgbClr val="1C2420"/>
                          </a:solidFill>
                          <a:latin typeface="Calibri" pitchFamily="34" charset="0"/>
                          <a:ea typeface="Calibri" pitchFamily="34" charset="-122"/>
                          <a:cs typeface="Calibri" pitchFamily="34" charset="-120"/>
                        </a:rPr>
                        <a:t>No measure of whether the work was any good</a:t>
                      </a:r>
                      <a:endParaRPr lang="en-US" sz="1500" dirty="0">
                        <a:latin typeface="Calibri" charset="0"/>
                        <a:ea typeface="Calibri" charset="0"/>
                        <a:cs typeface="Calibri" charset="0"/>
                      </a:endParaRPr>
                    </a:p>
                  </a:txBody>
                  <a:tcPr marL="91440" marR="91440" marT="45720" marB="4572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solidFill>
                      <a:srgbClr val="FFFFFF"/>
                    </a:solidFill>
                  </a:tcPr>
                </a:tc>
              </a:tr>
              <a:tr h="566928">
                <a:tc>
                  <a:txBody>
                    <a:bodyPr/>
                    <a:lstStyle/>
                    <a:p>
                      <a:pPr indent="0" marL="0">
                        <a:buNone/>
                      </a:pPr>
                      <a:r>
                        <a:rPr lang="en-US" sz="1500" dirty="0">
                          <a:solidFill>
                            <a:srgbClr val="1C2420"/>
                          </a:solidFill>
                          <a:latin typeface="Calibri" pitchFamily="34" charset="0"/>
                          <a:ea typeface="Calibri" pitchFamily="34" charset="-122"/>
                          <a:cs typeface="Calibri" pitchFamily="34" charset="-120"/>
                        </a:rPr>
                        <a:t>MLPerf Power (MLCommons)</a:t>
                      </a:r>
                      <a:endParaRPr lang="en-US" sz="1500" dirty="0">
                        <a:latin typeface="Calibri" charset="0"/>
                        <a:ea typeface="Calibri" charset="0"/>
                        <a:cs typeface="Calibri" charset="0"/>
                      </a:endParaRPr>
                    </a:p>
                  </a:txBody>
                  <a:tcPr marL="91440" marR="91440" marT="45720" marB="4572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solidFill>
                      <a:srgbClr val="FFFFFF"/>
                    </a:solidFill>
                  </a:tcPr>
                </a:tc>
                <a:tc>
                  <a:txBody>
                    <a:bodyPr/>
                    <a:lstStyle/>
                    <a:p>
                      <a:pPr indent="0" marL="0">
                        <a:buNone/>
                      </a:pPr>
                      <a:r>
                        <a:rPr lang="en-US" sz="1500" dirty="0">
                          <a:solidFill>
                            <a:srgbClr val="1C2420"/>
                          </a:solidFill>
                          <a:latin typeface="Calibri" pitchFamily="34" charset="0"/>
                          <a:ea typeface="Calibri" pitchFamily="34" charset="-122"/>
                          <a:cs typeface="Calibri" pitchFamily="34" charset="-120"/>
                        </a:rPr>
                        <a:t>Compares AI systems on energy</a:t>
                      </a:r>
                      <a:endParaRPr lang="en-US" sz="1500" dirty="0">
                        <a:latin typeface="Calibri" charset="0"/>
                        <a:ea typeface="Calibri" charset="0"/>
                        <a:cs typeface="Calibri" charset="0"/>
                      </a:endParaRPr>
                    </a:p>
                  </a:txBody>
                  <a:tcPr marL="91440" marR="91440" marT="45720" marB="4572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solidFill>
                      <a:srgbClr val="FFFFFF"/>
                    </a:solidFill>
                  </a:tcPr>
                </a:tc>
                <a:tc>
                  <a:txBody>
                    <a:bodyPr/>
                    <a:lstStyle/>
                    <a:p>
                      <a:pPr indent="0" marL="0">
                        <a:buNone/>
                      </a:pPr>
                      <a:r>
                        <a:rPr lang="en-US" sz="1500" dirty="0">
                          <a:solidFill>
                            <a:srgbClr val="1C2420"/>
                          </a:solidFill>
                          <a:latin typeface="Calibri" pitchFamily="34" charset="0"/>
                          <a:ea typeface="Calibri" pitchFamily="34" charset="-122"/>
                          <a:cs typeface="Calibri" pitchFamily="34" charset="-120"/>
                        </a:rPr>
                        <a:t>No comparison against non-AI methods</a:t>
                      </a:r>
                      <a:endParaRPr lang="en-US" sz="1500" dirty="0">
                        <a:latin typeface="Calibri" charset="0"/>
                        <a:ea typeface="Calibri" charset="0"/>
                        <a:cs typeface="Calibri" charset="0"/>
                      </a:endParaRPr>
                    </a:p>
                  </a:txBody>
                  <a:tcPr marL="91440" marR="91440" marT="45720" marB="4572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solidFill>
                      <a:srgbClr val="FFFFFF"/>
                    </a:solidFill>
                  </a:tcPr>
                </a:tc>
              </a:tr>
              <a:tr h="566928">
                <a:tc>
                  <a:txBody>
                    <a:bodyPr/>
                    <a:lstStyle/>
                    <a:p>
                      <a:pPr indent="0" marL="0">
                        <a:buNone/>
                      </a:pPr>
                      <a:r>
                        <a:rPr lang="en-US" sz="1500" dirty="0">
                          <a:solidFill>
                            <a:srgbClr val="1C2420"/>
                          </a:solidFill>
                          <a:latin typeface="Calibri" pitchFamily="34" charset="0"/>
                          <a:ea typeface="Calibri" pitchFamily="34" charset="-122"/>
                          <a:cs typeface="Calibri" pitchFamily="34" charset="-120"/>
                        </a:rPr>
                        <a:t>NIST AI RMF</a:t>
                      </a:r>
                      <a:endParaRPr lang="en-US" sz="1500" dirty="0">
                        <a:latin typeface="Calibri" charset="0"/>
                        <a:ea typeface="Calibri" charset="0"/>
                        <a:cs typeface="Calibri" charset="0"/>
                      </a:endParaRPr>
                    </a:p>
                  </a:txBody>
                  <a:tcPr marL="91440" marR="91440" marT="45720" marB="4572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solidFill>
                      <a:srgbClr val="FFFFFF"/>
                    </a:solidFill>
                  </a:tcPr>
                </a:tc>
                <a:tc>
                  <a:txBody>
                    <a:bodyPr/>
                    <a:lstStyle/>
                    <a:p>
                      <a:pPr indent="0" marL="0">
                        <a:buNone/>
                      </a:pPr>
                      <a:r>
                        <a:rPr lang="en-US" sz="1500" dirty="0">
                          <a:solidFill>
                            <a:srgbClr val="1C2420"/>
                          </a:solidFill>
                          <a:latin typeface="Calibri" pitchFamily="34" charset="0"/>
                          <a:ea typeface="Calibri" pitchFamily="34" charset="-122"/>
                          <a:cs typeface="Calibri" pitchFamily="34" charset="-120"/>
                        </a:rPr>
                        <a:t>Guides AI risk management</a:t>
                      </a:r>
                      <a:endParaRPr lang="en-US" sz="1500" dirty="0">
                        <a:latin typeface="Calibri" charset="0"/>
                        <a:ea typeface="Calibri" charset="0"/>
                        <a:cs typeface="Calibri" charset="0"/>
                      </a:endParaRPr>
                    </a:p>
                  </a:txBody>
                  <a:tcPr marL="91440" marR="91440" marT="45720" marB="4572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solidFill>
                      <a:srgbClr val="FFFFFF"/>
                    </a:solidFill>
                  </a:tcPr>
                </a:tc>
                <a:tc>
                  <a:txBody>
                    <a:bodyPr/>
                    <a:lstStyle/>
                    <a:p>
                      <a:pPr indent="0" marL="0">
                        <a:buNone/>
                      </a:pPr>
                      <a:r>
                        <a:rPr lang="en-US" sz="1500" dirty="0">
                          <a:solidFill>
                            <a:srgbClr val="1C2420"/>
                          </a:solidFill>
                          <a:latin typeface="Calibri" pitchFamily="34" charset="0"/>
                          <a:ea typeface="Calibri" pitchFamily="34" charset="-122"/>
                          <a:cs typeface="Calibri" pitchFamily="34" charset="-120"/>
                        </a:rPr>
                        <a:t>No way to measure environmental cost</a:t>
                      </a:r>
                      <a:endParaRPr lang="en-US" sz="1500" dirty="0">
                        <a:latin typeface="Calibri" charset="0"/>
                        <a:ea typeface="Calibri" charset="0"/>
                        <a:cs typeface="Calibri" charset="0"/>
                      </a:endParaRPr>
                    </a:p>
                  </a:txBody>
                  <a:tcPr marL="91440" marR="91440" marT="45720" marB="45720" anchor="ctr">
                    <a:lnL w="9525" cap="flat" cmpd="sng" algn="ctr">
                      <a:solidFill>
                        <a:srgbClr val="D9DED8"/>
                      </a:solidFill>
                      <a:prstDash val="solid"/>
                      <a:round/>
                      <a:headEnd type="none" w="med" len="med"/>
                      <a:tailEnd type="none" w="med" len="med"/>
                    </a:lnL>
                    <a:lnR w="9525" cap="flat" cmpd="sng" algn="ctr">
                      <a:solidFill>
                        <a:srgbClr val="D9DED8"/>
                      </a:solidFill>
                      <a:prstDash val="solid"/>
                      <a:round/>
                      <a:headEnd type="none" w="med" len="med"/>
                      <a:tailEnd type="none" w="med" len="med"/>
                    </a:lnR>
                    <a:lnT w="9525" cap="flat" cmpd="sng" algn="ctr">
                      <a:solidFill>
                        <a:srgbClr val="D9DED8"/>
                      </a:solidFill>
                      <a:prstDash val="solid"/>
                      <a:round/>
                      <a:headEnd type="none" w="med" len="med"/>
                      <a:tailEnd type="none" w="med" len="med"/>
                    </a:lnT>
                    <a:lnB w="9525" cap="flat" cmpd="sng" algn="ctr">
                      <a:solidFill>
                        <a:srgbClr val="D9DED8"/>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4434840"/>
            <a:ext cx="8046720" cy="365760"/>
          </a:xfrm>
          <a:prstGeom prst="rect">
            <a:avLst/>
          </a:prstGeom>
          <a:noFill/>
          <a:ln/>
        </p:spPr>
        <p:txBody>
          <a:bodyPr wrap="square" lIns="0" tIns="0" rIns="0" bIns="0" rtlCol="0" anchor="ctr"/>
          <a:lstStyle/>
          <a:p>
            <a:pPr indent="0" marL="0">
              <a:buNone/>
            </a:pPr>
            <a:r>
              <a:rPr lang="en-US" sz="1000" dirty="0">
                <a:solidFill>
                  <a:srgbClr val="5A665F"/>
                </a:solidFill>
                <a:latin typeface="Calibri" pitchFamily="34" charset="0"/>
                <a:ea typeface="Calibri" pitchFamily="34" charset="-122"/>
                <a:cs typeface="Calibri" pitchFamily="34" charset="-120"/>
              </a:rPr>
              <a:t>Sources: CodeCarbon (n.d.), codecarbon.io; MLCommons (n.d.), Power, mlcommons.org; NIST (2023), AI RMF 1.0, doi.org/10.6028/NIST.AI.100-1</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7F2"/>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F7D5B"/>
          </a:solidFill>
          <a:ln w="12700">
            <a:solidFill>
              <a:srgbClr val="2F7D5B"/>
            </a:solidFill>
            <a:prstDash val="solid"/>
          </a:ln>
        </p:spPr>
      </p:sp>
      <p:sp>
        <p:nvSpPr>
          <p:cNvPr id="3" name="Text 1"/>
          <p:cNvSpPr txBox="1"/>
          <p:nvPr/>
        </p:nvSpPr>
        <p:spPr>
          <a:xfrm>
            <a:off x="548640" y="320040"/>
            <a:ext cx="8046720" cy="320040"/>
          </a:xfrm>
          <a:prstGeom prst="rect">
            <a:avLst/>
          </a:prstGeom>
          <a:noFill/>
          <a:ln/>
        </p:spPr>
        <p:txBody>
          <a:bodyPr wrap="square" lIns="0" tIns="0" rIns="0" bIns="0" rtlCol="0" anchor="ctr"/>
          <a:lstStyle/>
          <a:p>
            <a:pPr indent="0" marL="0">
              <a:buNone/>
            </a:pPr>
            <a:r>
              <a:rPr lang="en-US" sz="1200" b="1" spc="300" kern="0" dirty="0">
                <a:solidFill>
                  <a:srgbClr val="2F7D5B"/>
                </a:solidFill>
                <a:latin typeface="Calibri" pitchFamily="34" charset="0"/>
                <a:ea typeface="Calibri" pitchFamily="34" charset="-122"/>
                <a:cs typeface="Calibri" pitchFamily="34" charset="-120"/>
              </a:rPr>
              <a:t>DESIGN-PHASE PROTOTYPE</a:t>
            </a:r>
            <a:endParaRPr lang="en-US" sz="1200" dirty="0"/>
          </a:p>
        </p:txBody>
      </p:sp>
      <p:sp>
        <p:nvSpPr>
          <p:cNvPr id="4" name="Text 2"/>
          <p:cNvSpPr txBox="1"/>
          <p:nvPr/>
        </p:nvSpPr>
        <p:spPr>
          <a:xfrm>
            <a:off x="548640" y="640080"/>
            <a:ext cx="8046720" cy="731520"/>
          </a:xfrm>
          <a:prstGeom prst="rect">
            <a:avLst/>
          </a:prstGeom>
          <a:noFill/>
          <a:ln/>
        </p:spPr>
        <p:txBody>
          <a:bodyPr wrap="square" lIns="0" tIns="0" rIns="0" bIns="0" rtlCol="0" anchor="ctr"/>
          <a:lstStyle/>
          <a:p>
            <a:pPr indent="0" marL="0">
              <a:buNone/>
            </a:pPr>
            <a:r>
              <a:rPr lang="en-US" sz="3000" b="1" dirty="0">
                <a:solidFill>
                  <a:srgbClr val="1C2420"/>
                </a:solidFill>
                <a:latin typeface="Calibri" pitchFamily="34" charset="0"/>
                <a:ea typeface="Calibri" pitchFamily="34" charset="-122"/>
                <a:cs typeface="Calibri" pitchFamily="34" charset="-120"/>
              </a:rPr>
              <a:t>How it works</a:t>
            </a:r>
            <a:endParaRPr lang="en-US" sz="3000" dirty="0"/>
          </a:p>
        </p:txBody>
      </p:sp>
      <p:pic>
        <p:nvPicPr>
          <p:cNvPr id="5" name="Image 0" descr="/home/claude/deck/diagram.png">    </p:cNvPr>
          <p:cNvPicPr>
            <a:picLocks noChangeAspect="1"/>
          </p:cNvPicPr>
          <p:nvPr/>
        </p:nvPicPr>
        <p:blipFill>
          <a:blip r:embed="rId1"/>
          <a:stretch>
            <a:fillRect/>
          </a:stretch>
        </p:blipFill>
        <p:spPr>
          <a:xfrm>
            <a:off x="548640" y="1508760"/>
            <a:ext cx="8046720" cy="317296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7F2"/>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F7D5B"/>
          </a:solidFill>
          <a:ln w="12700">
            <a:solidFill>
              <a:srgbClr val="2F7D5B"/>
            </a:solidFill>
            <a:prstDash val="solid"/>
          </a:ln>
        </p:spPr>
      </p:sp>
      <p:sp>
        <p:nvSpPr>
          <p:cNvPr id="3" name="Text 1"/>
          <p:cNvSpPr txBox="1"/>
          <p:nvPr/>
        </p:nvSpPr>
        <p:spPr>
          <a:xfrm>
            <a:off x="548640" y="320040"/>
            <a:ext cx="8046720" cy="320040"/>
          </a:xfrm>
          <a:prstGeom prst="rect">
            <a:avLst/>
          </a:prstGeom>
          <a:noFill/>
          <a:ln/>
        </p:spPr>
        <p:txBody>
          <a:bodyPr wrap="square" lIns="0" tIns="0" rIns="0" bIns="0" rtlCol="0" anchor="ctr"/>
          <a:lstStyle/>
          <a:p>
            <a:pPr indent="0" marL="0">
              <a:buNone/>
            </a:pPr>
            <a:r>
              <a:rPr lang="en-US" sz="1200" b="1" spc="300" kern="0" dirty="0">
                <a:solidFill>
                  <a:srgbClr val="2F7D5B"/>
                </a:solidFill>
                <a:latin typeface="Calibri" pitchFamily="34" charset="0"/>
                <a:ea typeface="Calibri" pitchFamily="34" charset="-122"/>
                <a:cs typeface="Calibri" pitchFamily="34" charset="-120"/>
              </a:rPr>
              <a:t>DESIGN-PHASE PROTOTYPE</a:t>
            </a:r>
            <a:endParaRPr lang="en-US" sz="1200" dirty="0"/>
          </a:p>
        </p:txBody>
      </p:sp>
      <p:sp>
        <p:nvSpPr>
          <p:cNvPr id="4" name="Text 2"/>
          <p:cNvSpPr txBox="1"/>
          <p:nvPr/>
        </p:nvSpPr>
        <p:spPr>
          <a:xfrm>
            <a:off x="548640" y="640080"/>
            <a:ext cx="8046720" cy="731520"/>
          </a:xfrm>
          <a:prstGeom prst="rect">
            <a:avLst/>
          </a:prstGeom>
          <a:noFill/>
          <a:ln/>
        </p:spPr>
        <p:txBody>
          <a:bodyPr wrap="square" lIns="0" tIns="0" rIns="0" bIns="0" rtlCol="0" anchor="ctr"/>
          <a:lstStyle/>
          <a:p>
            <a:pPr indent="0" marL="0">
              <a:buNone/>
            </a:pPr>
            <a:r>
              <a:rPr lang="en-US" sz="3000" b="1" dirty="0">
                <a:solidFill>
                  <a:srgbClr val="1C2420"/>
                </a:solidFill>
                <a:latin typeface="Calibri" pitchFamily="34" charset="0"/>
                <a:ea typeface="Calibri" pitchFamily="34" charset="-122"/>
                <a:cs typeface="Calibri" pitchFamily="34" charset="-120"/>
              </a:rPr>
              <a:t>What you get</a:t>
            </a:r>
            <a:endParaRPr lang="en-US" sz="3000" dirty="0"/>
          </a:p>
        </p:txBody>
      </p:sp>
      <p:pic>
        <p:nvPicPr>
          <p:cNvPr id="5" name="Image 0" descr="/home/claude/deck/prototype_mockup.png">    </p:cNvPr>
          <p:cNvPicPr>
            <a:picLocks noChangeAspect="1"/>
          </p:cNvPicPr>
          <p:nvPr/>
        </p:nvPicPr>
        <p:blipFill>
          <a:blip r:embed="rId1"/>
          <a:stretch>
            <a:fillRect/>
          </a:stretch>
        </p:blipFill>
        <p:spPr>
          <a:xfrm>
            <a:off x="548640" y="1463040"/>
            <a:ext cx="5852160" cy="3291840"/>
          </a:xfrm>
          <a:prstGeom prst="rect">
            <a:avLst/>
          </a:prstGeom>
        </p:spPr>
      </p:pic>
      <p:sp>
        <p:nvSpPr>
          <p:cNvPr id="6" name="Text 3"/>
          <p:cNvSpPr txBox="1"/>
          <p:nvPr/>
        </p:nvSpPr>
        <p:spPr>
          <a:xfrm>
            <a:off x="6583680" y="1645920"/>
            <a:ext cx="2286000" cy="292608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1C2420"/>
                </a:solidFill>
                <a:latin typeface="Calibri" pitchFamily="34" charset="0"/>
                <a:ea typeface="Calibri" pitchFamily="34" charset="-122"/>
                <a:cs typeface="Calibri" pitchFamily="34" charset="-120"/>
              </a:rPr>
              <a:t>Run one command</a:t>
            </a:r>
            <a:endParaRPr lang="en-US" sz="1600" dirty="0"/>
          </a:p>
          <a:p>
            <a:pPr marL="342900" indent="-342900">
              <a:spcAft>
                <a:spcPts val="1200"/>
              </a:spcAft>
              <a:buSzPct val="100000"/>
              <a:buChar char="•"/>
            </a:pPr>
            <a:r>
              <a:rPr lang="en-US" sz="1600" dirty="0">
                <a:solidFill>
                  <a:srgbClr val="1C2420"/>
                </a:solidFill>
                <a:latin typeface="Calibri" pitchFamily="34" charset="0"/>
                <a:ea typeface="Calibri" pitchFamily="34" charset="-122"/>
                <a:cs typeface="Calibri" pitchFamily="34" charset="-120"/>
              </a:rPr>
              <a:t>Get one report</a:t>
            </a:r>
            <a:endParaRPr lang="en-US" sz="1600" dirty="0"/>
          </a:p>
          <a:p>
            <a:pPr marL="342900" indent="-342900">
              <a:spcAft>
                <a:spcPts val="1200"/>
              </a:spcAft>
              <a:buSzPct val="100000"/>
              <a:buChar char="•"/>
            </a:pPr>
            <a:r>
              <a:rPr lang="en-US" sz="1600" dirty="0">
                <a:solidFill>
                  <a:srgbClr val="1C2420"/>
                </a:solidFill>
                <a:latin typeface="Calibri" pitchFamily="34" charset="0"/>
                <a:ea typeface="Calibri" pitchFamily="34" charset="-122"/>
                <a:cs typeface="Calibri" pitchFamily="34" charset="-120"/>
              </a:rPr>
              <a:t>Key number: energy per true positive</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F7D5B"/>
        </a:solidFill>
      </p:bgPr>
    </p:bg>
    <p:spTree>
      <p:nvGrpSpPr>
        <p:cNvPr id="1" name=""/>
        <p:cNvGrpSpPr/>
        <p:nvPr/>
      </p:nvGrpSpPr>
      <p:grpSpPr>
        <a:xfrm>
          <a:off x="0" y="0"/>
          <a:ext cx="0" cy="0"/>
          <a:chOff x="0" y="0"/>
          <a:chExt cx="0" cy="0"/>
        </a:xfrm>
      </p:grpSpPr>
      <p:sp>
        <p:nvSpPr>
          <p:cNvPr id="2" name="Text 0"/>
          <p:cNvSpPr txBox="1"/>
          <p:nvPr/>
        </p:nvSpPr>
        <p:spPr>
          <a:xfrm>
            <a:off x="640080" y="1463040"/>
            <a:ext cx="7863840" cy="91440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Thank you</a:t>
            </a:r>
            <a:endParaRPr lang="en-US" sz="4000" dirty="0"/>
          </a:p>
        </p:txBody>
      </p:sp>
      <p:sp>
        <p:nvSpPr>
          <p:cNvPr id="3" name="Text 1"/>
          <p:cNvSpPr txBox="1"/>
          <p:nvPr/>
        </p:nvSpPr>
        <p:spPr>
          <a:xfrm>
            <a:off x="640080" y="2468880"/>
            <a:ext cx="7863840" cy="457200"/>
          </a:xfrm>
          <a:prstGeom prst="rect">
            <a:avLst/>
          </a:prstGeom>
          <a:noFill/>
          <a:ln/>
        </p:spPr>
        <p:txBody>
          <a:bodyPr wrap="square" lIns="0" tIns="0" rIns="0" bIns="0" rtlCol="0" anchor="ctr"/>
          <a:lstStyle/>
          <a:p>
            <a:pPr indent="0" marL="0">
              <a:buNone/>
            </a:pPr>
            <a:r>
              <a:rPr lang="en-US" sz="2000" dirty="0">
                <a:solidFill>
                  <a:srgbClr val="D6EBDF"/>
                </a:solidFill>
                <a:latin typeface="Calibri" pitchFamily="34" charset="0"/>
                <a:ea typeface="Calibri" pitchFamily="34" charset="-122"/>
                <a:cs typeface="Calibri" pitchFamily="34" charset="-120"/>
              </a:rPr>
              <a:t>breezebrise.github.io/SIP-Website</a:t>
            </a:r>
            <a:endParaRPr lang="en-US" sz="2000" dirty="0"/>
          </a:p>
        </p:txBody>
      </p:sp>
      <p:sp>
        <p:nvSpPr>
          <p:cNvPr id="4" name="Text 2"/>
          <p:cNvSpPr txBox="1"/>
          <p:nvPr/>
        </p:nvSpPr>
        <p:spPr>
          <a:xfrm>
            <a:off x="640080" y="4206240"/>
            <a:ext cx="786384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Nicole Welch  |  Network Security  |  University of Advancing Technology</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Efficiency Benchmarking for Cybersecurity Analysis</dc:title>
  <dc:subject>PptxGenJS Presentation</dc:subject>
  <dc:creator>Nicole Welch</dc:creator>
  <cp:lastModifiedBy>Nicole Welch</cp:lastModifiedBy>
  <cp:revision>1</cp:revision>
  <dcterms:created xsi:type="dcterms:W3CDTF">2026-10-11T12:59:58Z</dcterms:created>
  <dcterms:modified xsi:type="dcterms:W3CDTF">2026-10-11T12:59:58Z</dcterms:modified>
</cp:coreProperties>
</file>